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3054"/>
                </a:solidFill>
              </a:defRPr>
            </a:pPr>
            <a:r>
              <a:t>AI4Law 前端首页下方项目介绍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B597C"/>
                </a:solidFill>
              </a:defRPr>
            </a:pPr>
            <a:r>
              <a:t>聚焦：首页首屏以下的模块呈现与业务闭环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9728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目标：把“介绍”改成“可直接操作的任务入口”，减少冗余和中转。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范围：法域差异化入口、近期项目保存查找、能力边界、交付预览。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结果：用户从首页到工作区控制在 2 步（选类别 -&gt; 命名）。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3054"/>
                </a:solidFill>
              </a:defRPr>
            </a:pPr>
            <a:r>
              <a:t>改版目标与设计原则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60B0"/>
                </a:solidFill>
              </a:defRPr>
            </a:pPr>
            <a:r>
              <a:t>产品目标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394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5 秒内说清：能做什么 / 准备什么 / 输出什么。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点击法域下具体类别即可新建任务。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仅展示后端可执行模块，避免“点得到跑不了”。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新用户与回访用户分状态呈现。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55448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60B0"/>
                </a:solidFill>
              </a:defRPr>
            </a:pPr>
            <a:r>
              <a:t>设计原则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011680"/>
            <a:ext cx="51206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主路径优先：创建任务 &gt; 查看说明。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信息去重：不再展示法域中转层。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任务语义文案：输入/输出/时长优先。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视觉层级清晰：入口区 &gt; 最近任务区 &gt; 说明区。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3054"/>
                </a:solidFill>
              </a:defRPr>
            </a:pPr>
            <a:r>
              <a:t>首页下半区结构总览（IA）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2743200" cy="4389120"/>
          </a:xfrm>
          <a:prstGeom prst="rect">
            <a:avLst/>
          </a:prstGeom>
          <a:solidFill>
            <a:srgbClr val="FFFFFF"/>
          </a:solidFill>
          <a:ln w="15240">
            <a:solidFill>
              <a:srgbClr val="C5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3054"/>
                </a:solidFill>
              </a:defRPr>
            </a:pPr>
            <a:r>
              <a:t>01 法域差异化任务入口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CN / EU / US 三列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每列内是具体任务类别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点击后先命名再创建任务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3611880" y="1554480"/>
            <a:ext cx="2743200" cy="4389120"/>
          </a:xfrm>
          <a:prstGeom prst="rect">
            <a:avLst/>
          </a:prstGeom>
          <a:solidFill>
            <a:srgbClr val="FFFFFF"/>
          </a:solidFill>
          <a:ln w="15240">
            <a:solidFill>
              <a:srgbClr val="C5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3054"/>
                </a:solidFill>
              </a:defRPr>
            </a:pPr>
            <a:r>
              <a:t>02 近期项目保存查找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任务检索 + 法域筛选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已保存项目快速回访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任务卡整卡点击进入工作区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554480"/>
            <a:ext cx="2560320" cy="4389120"/>
          </a:xfrm>
          <a:prstGeom prst="rect">
            <a:avLst/>
          </a:prstGeom>
          <a:solidFill>
            <a:srgbClr val="FFFFFF"/>
          </a:solidFill>
          <a:ln w="15240">
            <a:solidFill>
              <a:srgbClr val="C5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3054"/>
                </a:solidFill>
              </a:defRPr>
            </a:pPr>
            <a:r>
              <a:t>03 能力边界说明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仅显示已接入模块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模板与模块映射可见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降低预期偏差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554480"/>
            <a:ext cx="2194560" cy="4389120"/>
          </a:xfrm>
          <a:prstGeom prst="rect">
            <a:avLst/>
          </a:prstGeom>
          <a:solidFill>
            <a:srgbClr val="FFFFFF"/>
          </a:solidFill>
          <a:ln w="15240">
            <a:solidFill>
              <a:srgbClr val="C5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3054"/>
                </a:solidFill>
              </a:defRPr>
            </a:pPr>
            <a:r>
              <a:t>04 交付物预览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报告/证据/整改清单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强调可交付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提升可信度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3054"/>
                </a:solidFill>
              </a:defRPr>
            </a:pPr>
            <a:r>
              <a:t>模块一：法域差异化任务入口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365760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C5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3054"/>
                </a:solidFill>
              </a:defRPr>
            </a:pPr>
            <a:r>
              <a:t>中国（CN）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合规路径诊断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安全评估路径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认证/标准合同路径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文档专项智能审查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26280" y="1554480"/>
            <a:ext cx="365760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C5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3054"/>
                </a:solidFill>
              </a:defRPr>
            </a:pPr>
            <a:r>
              <a:t>欧盟（EU）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SCC 审查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BCR 审核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DPIA 草案生成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TIA 草案生成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554480"/>
            <a:ext cx="310896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C5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3054"/>
                </a:solidFill>
              </a:defRPr>
            </a:pPr>
            <a:r>
              <a:t>美国（US）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EO 14117 合规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CPRA 合规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入口行为：点击类别 -&gt; 命名 -&gt; 创建任务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3054"/>
                </a:solidFill>
              </a:defRPr>
            </a:pPr>
            <a:r>
              <a:t>模块二：近期项目保存与查找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左侧“已保存项目”：沉淀高频任务，减少重复检索。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右侧“任务卡网格”：显示法域、模式、模板、模块、更新时间。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整卡点击进入工作区，二级操作保留“保存/重命名”。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支持关键字检索 + 法域筛选（ALL/CN/EU/US）。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3054"/>
                </a:solidFill>
              </a:defRPr>
            </a:pPr>
            <a:r>
              <a:t>模块三：能力边界与后端匹配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60B0"/>
                </a:solidFill>
              </a:defRPr>
            </a:pPr>
            <a:r>
              <a:t>前后端一致性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3949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模板与模块一一映射：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CN: diagnosis / assessment / pipia / scc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EU: scc / bcr / dpia / tia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US: cn_flow / cpra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只展示可运行入口，避免空能力按钮。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60B0"/>
                </a:solidFill>
              </a:defRPr>
            </a:pPr>
            <a:r>
              <a:t>执行闭环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103120"/>
            <a:ext cx="5120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任务创建即绑定：taskTemplateId / module / workspaceStyle。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运行面板锁定模块，避免误切换到无关模块。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工作区可直接追溯 runs / evidence / issues / artifacts。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3054"/>
                </a:solidFill>
              </a:defRPr>
            </a:pPr>
            <a:r>
              <a:t>模块四：交付物预览（强调“可交付”）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34747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C5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3054"/>
                </a:solidFill>
              </a:defRPr>
            </a:pPr>
            <a:r>
              <a:t>报告类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诊断报告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DPIA/TIA 草案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合规备忘录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0" y="1737360"/>
            <a:ext cx="34747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C5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3054"/>
                </a:solidFill>
              </a:defRPr>
            </a:pPr>
            <a:r>
              <a:t>证据类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法规条文命中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引用链可追溯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证据覆盖视图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1737360"/>
            <a:ext cx="329184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C5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3054"/>
                </a:solidFill>
              </a:defRPr>
            </a:pPr>
            <a:r>
              <a:t>动作类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整改建议清单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尽调提纲</a:t>
            </a:r>
          </a:p>
          <a:p>
            <a:pPr>
              <a:spcAft>
                <a:spcPts val="200"/>
              </a:spcAft>
              <a:defRPr sz="1300">
                <a:solidFill>
                  <a:srgbClr val="3B597C"/>
                </a:solidFill>
              </a:defRPr>
            </a:pPr>
            <a:r>
              <a:t>报告中心导出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3054"/>
                </a:solidFill>
              </a:defRPr>
            </a:pPr>
            <a:r>
              <a:t>关键交互流程（首页到工作区）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Step 1: 用户点击法域下“具体类别”。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Step 2: 弹出命名输入框（默认建议名）。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Step 3: 创建任务并绑定后端模块。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Step 4: 立即跳转 /workspace/:taskId。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补充：工作区点击 AI4Law 可回到首页。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3054"/>
                </a:solidFill>
              </a:defRPr>
            </a:pPr>
            <a:r>
              <a:t>前端实现映射（研发视角）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模板定义：frontend/src/lib/task-templates.ts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任务入口页：frontend/src/pages/TaskSpacesPage.tsx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任务创建逻辑：frontend/src/App.tsx#createTask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工作区壳层：frontend/src/components/workspace/WorkspaceShell.tsx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文案国际化：frontend/src/lib/i18n.ts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3054"/>
                </a:solidFill>
              </a:defRPr>
            </a:pPr>
            <a:r>
              <a:t>验收指标与下一步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60B0"/>
                </a:solidFill>
              </a:defRPr>
            </a:pPr>
            <a:r>
              <a:t>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394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首页 -&gt; 工作区创建转化率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平均点击步数（目标 &lt;= 2）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新用户首日完成一次运行比例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回访用户继续任务点击率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60B0"/>
                </a:solidFill>
              </a:defRPr>
            </a:pPr>
            <a:r>
              <a:t>下一步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103120"/>
            <a:ext cx="51206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补充首页线框图版本（含移动端）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接入埋点并做首轮数据观察</a:t>
            </a:r>
          </a:p>
          <a:p>
            <a:pPr>
              <a:spcAft>
                <a:spcPts val="1000"/>
              </a:spcAft>
              <a:defRPr sz="1800">
                <a:solidFill>
                  <a:srgbClr val="3B597C"/>
                </a:solidFill>
              </a:defRPr>
            </a:pPr>
            <a:r>
              <a:t>基于数据优化入口排序与文案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